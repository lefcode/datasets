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7" r:id="rId2"/>
    <p:sldId id="258" r:id="rId3"/>
    <p:sldId id="259" r:id="rId4"/>
    <p:sldId id="261" r:id="rId5"/>
    <p:sldId id="262" r:id="rId6"/>
    <p:sldId id="263" r:id="rId7"/>
    <p:sldId id="264" r:id="rId8"/>
    <p:sldId id="265" r:id="rId9"/>
    <p:sldId id="266" r:id="rId10"/>
    <p:sldId id="267" r:id="rId11"/>
    <p:sldId id="268" r:id="rId12"/>
    <p:sldId id="269"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3B3B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31652D-7944-FB34-D001-68A619F93E4B}" v="1494" dt="2021-03-09T10:02:00.908"/>
    <p1510:client id="{9869DDA3-C728-4784-9A3C-D91A26AC2EE8}" v="4" dt="2021-02-26T15:49:53.687"/>
    <p1510:client id="{98DDDD53-B03E-3933-F914-B87CEB1E7E60}" v="2244" dt="2021-02-26T17:11:54.103"/>
    <p1510:client id="{AA35B29F-50B7-2000-81A0-69ED37C8F188}" v="69" dt="2021-03-08T09:46:03.446"/>
    <p1510:client id="{B7866F70-EC5E-985D-5511-113E4B25D8CE}" v="45" dt="2021-03-14T12:12:26.286"/>
    <p1510:client id="{C9293873-9319-4FDD-956D-34DC04227924}" v="485" dt="2021-03-08T10:49:02.3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222271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60095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82680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3/14/2021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26322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3/14/2021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950903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3/14/2021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85714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3/14/2021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38300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43525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5639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307607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3/14/2021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3069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3B3B3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3/14/2021</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76946360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 descr="Graphical user interface&#10;&#10;Description automatically generated">
            <a:extLst>
              <a:ext uri="{FF2B5EF4-FFF2-40B4-BE49-F238E27FC236}">
                <a16:creationId xmlns:a16="http://schemas.microsoft.com/office/drawing/2014/main" id="{97CCF481-E3FD-4988-8127-CFB2BDF5359C}"/>
              </a:ext>
            </a:extLst>
          </p:cNvPr>
          <p:cNvPicPr>
            <a:picLocks noChangeAspect="1"/>
          </p:cNvPicPr>
          <p:nvPr/>
        </p:nvPicPr>
        <p:blipFill>
          <a:blip r:embed="rId2"/>
          <a:stretch>
            <a:fillRect/>
          </a:stretch>
        </p:blipFill>
        <p:spPr>
          <a:xfrm>
            <a:off x="789874" y="206895"/>
            <a:ext cx="2743200" cy="2743200"/>
          </a:xfrm>
          <a:prstGeom prst="rect">
            <a:avLst/>
          </a:prstGeom>
        </p:spPr>
      </p:pic>
      <p:sp>
        <p:nvSpPr>
          <p:cNvPr id="5" name="Title 4">
            <a:extLst>
              <a:ext uri="{FF2B5EF4-FFF2-40B4-BE49-F238E27FC236}">
                <a16:creationId xmlns:a16="http://schemas.microsoft.com/office/drawing/2014/main" id="{28392482-E3C8-4135-B2D8-BEBDDF9C3695}"/>
              </a:ext>
            </a:extLst>
          </p:cNvPr>
          <p:cNvSpPr>
            <a:spLocks noGrp="1"/>
          </p:cNvSpPr>
          <p:nvPr>
            <p:ph type="ctrTitle"/>
          </p:nvPr>
        </p:nvSpPr>
        <p:spPr>
          <a:xfrm>
            <a:off x="786580" y="2388266"/>
            <a:ext cx="10323871" cy="4181987"/>
          </a:xfrm>
        </p:spPr>
        <p:txBody>
          <a:bodyPr>
            <a:normAutofit fontScale="90000"/>
          </a:bodyPr>
          <a:lstStyle/>
          <a:p>
            <a:pPr algn="l"/>
            <a:r>
              <a:rPr lang="en-US" sz="8000" dirty="0">
                <a:solidFill>
                  <a:srgbClr val="FF6600"/>
                </a:solidFill>
                <a:latin typeface="Calibri"/>
                <a:cs typeface="Calibri Light"/>
              </a:rPr>
              <a:t>Exploratory Data Analysis</a:t>
            </a:r>
            <a:br>
              <a:rPr lang="en-US" sz="8000" dirty="0">
                <a:cs typeface="Calibri Light"/>
              </a:rPr>
            </a:br>
            <a:r>
              <a:rPr lang="en-US" sz="4000" dirty="0">
                <a:solidFill>
                  <a:srgbClr val="FF6600"/>
                </a:solidFill>
                <a:cs typeface="Calibri Light"/>
              </a:rPr>
              <a:t>G2M Case Study</a:t>
            </a:r>
            <a:br>
              <a:rPr lang="en-US" sz="4000" dirty="0">
                <a:solidFill>
                  <a:srgbClr val="FF6600"/>
                </a:solidFill>
                <a:cs typeface="Calibri Light"/>
              </a:rPr>
            </a:br>
            <a:br>
              <a:rPr lang="en-US" sz="4000" dirty="0">
                <a:solidFill>
                  <a:srgbClr val="FF6600"/>
                </a:solidFill>
                <a:cs typeface="Calibri Light"/>
              </a:rPr>
            </a:br>
            <a:r>
              <a:rPr lang="en-US" sz="4000" dirty="0">
                <a:solidFill>
                  <a:srgbClr val="FF6600"/>
                </a:solidFill>
                <a:cs typeface="Calibri Light"/>
              </a:rPr>
              <a:t>Name: Mantas Eleftherios</a:t>
            </a:r>
            <a:br>
              <a:rPr lang="en-US" sz="4000" dirty="0">
                <a:solidFill>
                  <a:srgbClr val="FF6600"/>
                </a:solidFill>
                <a:cs typeface="Calibri Light"/>
              </a:rPr>
            </a:br>
            <a:r>
              <a:rPr lang="en-US" sz="4000" dirty="0">
                <a:solidFill>
                  <a:srgbClr val="FF6600"/>
                </a:solidFill>
                <a:cs typeface="Calibri Light"/>
              </a:rPr>
              <a:t>Location: Greece, Patras</a:t>
            </a:r>
            <a:br>
              <a:rPr lang="en-US" sz="4000" dirty="0">
                <a:solidFill>
                  <a:srgbClr val="FF6600"/>
                </a:solidFill>
                <a:cs typeface="Calibri Light"/>
              </a:rPr>
            </a:br>
            <a:r>
              <a:rPr lang="en-US" sz="4000" dirty="0">
                <a:solidFill>
                  <a:srgbClr val="FF6600"/>
                </a:solidFill>
                <a:cs typeface="Calibri Light"/>
              </a:rPr>
              <a:t>Team Data and Analytics</a:t>
            </a:r>
            <a:br>
              <a:rPr lang="en-US" sz="4000" dirty="0">
                <a:solidFill>
                  <a:srgbClr val="FF6600"/>
                </a:solidFill>
                <a:cs typeface="Calibri Light"/>
              </a:rPr>
            </a:br>
            <a:br>
              <a:rPr lang="en-US" sz="4400" dirty="0">
                <a:cs typeface="Calibri Light"/>
              </a:rPr>
            </a:br>
            <a:r>
              <a:rPr lang="en-US" sz="3100" dirty="0">
                <a:solidFill>
                  <a:srgbClr val="FF6600"/>
                </a:solidFill>
                <a:cs typeface="Calibri Light"/>
              </a:rPr>
              <a:t>Date:  11-March-2021</a:t>
            </a:r>
            <a:endParaRPr lang="en-US" dirty="0">
              <a:cs typeface="Calibri Light" panose="020F0302020204030204"/>
            </a:endParaRPr>
          </a:p>
        </p:txBody>
      </p:sp>
    </p:spTree>
    <p:extLst>
      <p:ext uri="{BB962C8B-B14F-4D97-AF65-F5344CB8AC3E}">
        <p14:creationId xmlns:p14="http://schemas.microsoft.com/office/powerpoint/2010/main" val="2112029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BE2D9-BADA-4047-B460-F9F91FBDFD05}"/>
              </a:ext>
            </a:extLst>
          </p:cNvPr>
          <p:cNvSpPr>
            <a:spLocks noGrp="1"/>
          </p:cNvSpPr>
          <p:nvPr>
            <p:ph type="title"/>
          </p:nvPr>
        </p:nvSpPr>
        <p:spPr/>
        <p:txBody>
          <a:bodyPr/>
          <a:lstStyle/>
          <a:p>
            <a:pPr algn="ctr"/>
            <a:r>
              <a:rPr lang="en-US" dirty="0">
                <a:solidFill>
                  <a:srgbClr val="FF6600"/>
                </a:solidFill>
                <a:ea typeface="+mj-lt"/>
                <a:cs typeface="+mj-lt"/>
              </a:rPr>
              <a:t>Go-to-Market (G2M)</a:t>
            </a:r>
            <a:r>
              <a:rPr lang="en-US" dirty="0">
                <a:solidFill>
                  <a:srgbClr val="FF6600"/>
                </a:solidFill>
                <a:cs typeface="Calibri Light"/>
              </a:rPr>
              <a:t> Case study description</a:t>
            </a:r>
            <a:endParaRPr lang="en-US"/>
          </a:p>
        </p:txBody>
      </p:sp>
      <p:sp>
        <p:nvSpPr>
          <p:cNvPr id="3" name="Content Placeholder 2">
            <a:extLst>
              <a:ext uri="{FF2B5EF4-FFF2-40B4-BE49-F238E27FC236}">
                <a16:creationId xmlns:a16="http://schemas.microsoft.com/office/drawing/2014/main" id="{48A76ABE-AAAC-4237-8F5E-C7461A53B1E5}"/>
              </a:ext>
            </a:extLst>
          </p:cNvPr>
          <p:cNvSpPr>
            <a:spLocks noGrp="1"/>
          </p:cNvSpPr>
          <p:nvPr>
            <p:ph idx="1"/>
          </p:nvPr>
        </p:nvSpPr>
        <p:spPr>
          <a:xfrm>
            <a:off x="911941" y="2108304"/>
            <a:ext cx="9815053" cy="3736822"/>
          </a:xfrm>
        </p:spPr>
        <p:txBody>
          <a:bodyPr vert="horz" lIns="91440" tIns="45720" rIns="91440" bIns="45720" rtlCol="0" anchor="t">
            <a:normAutofit/>
          </a:bodyPr>
          <a:lstStyle/>
          <a:p>
            <a:r>
              <a:rPr lang="en-US" dirty="0">
                <a:solidFill>
                  <a:schemeClr val="bg1"/>
                </a:solidFill>
                <a:ea typeface="+mn-lt"/>
                <a:cs typeface="+mn-lt"/>
              </a:rPr>
              <a:t>Problem description: XYZ is a private firm in the US. Due to remarkable growth in the Cab Industry in last few years and multiple key players in the market, it is planning for an investment in Cab industry.</a:t>
            </a:r>
            <a:endParaRPr lang="en-US" dirty="0">
              <a:solidFill>
                <a:schemeClr val="bg1"/>
              </a:solidFill>
            </a:endParaRPr>
          </a:p>
          <a:p>
            <a:endParaRPr lang="en-US" dirty="0">
              <a:solidFill>
                <a:schemeClr val="bg1"/>
              </a:solidFill>
              <a:cs typeface="Calibri"/>
            </a:endParaRPr>
          </a:p>
          <a:p>
            <a:r>
              <a:rPr lang="en-US" dirty="0">
                <a:solidFill>
                  <a:schemeClr val="bg1"/>
                </a:solidFill>
                <a:cs typeface="Calibri"/>
              </a:rPr>
              <a:t>Goal: Provide actionable insights to help XYZ infer the right company to make their investment.</a:t>
            </a:r>
          </a:p>
          <a:p>
            <a:pPr marL="0" indent="0">
              <a:buNone/>
            </a:pPr>
            <a:endParaRPr lang="en-US" dirty="0">
              <a:solidFill>
                <a:schemeClr val="bg1"/>
              </a:solidFill>
              <a:cs typeface="Calibri"/>
            </a:endParaRPr>
          </a:p>
          <a:p>
            <a:pPr marL="0" indent="0">
              <a:buNone/>
            </a:pPr>
            <a:endParaRPr lang="en-US" dirty="0">
              <a:solidFill>
                <a:schemeClr val="bg1"/>
              </a:solidFill>
              <a:cs typeface="Calibri"/>
            </a:endParaRPr>
          </a:p>
          <a:p>
            <a:pPr marL="0" indent="0">
              <a:buNone/>
            </a:pPr>
            <a:endParaRPr lang="en-US" dirty="0">
              <a:solidFill>
                <a:schemeClr val="bg1"/>
              </a:solidFill>
              <a:cs typeface="Calibri"/>
            </a:endParaRPr>
          </a:p>
          <a:p>
            <a:pPr marL="0" indent="0">
              <a:buNone/>
            </a:pPr>
            <a:endParaRPr lang="en-US" dirty="0">
              <a:solidFill>
                <a:schemeClr val="bg1"/>
              </a:solidFill>
              <a:cs typeface="Calibri"/>
            </a:endParaRPr>
          </a:p>
        </p:txBody>
      </p:sp>
    </p:spTree>
    <p:extLst>
      <p:ext uri="{BB962C8B-B14F-4D97-AF65-F5344CB8AC3E}">
        <p14:creationId xmlns:p14="http://schemas.microsoft.com/office/powerpoint/2010/main" val="2268359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62D0-BAB6-4E5A-A2D0-1EECA121ECBA}"/>
              </a:ext>
            </a:extLst>
          </p:cNvPr>
          <p:cNvSpPr>
            <a:spLocks noGrp="1"/>
          </p:cNvSpPr>
          <p:nvPr>
            <p:ph type="title"/>
          </p:nvPr>
        </p:nvSpPr>
        <p:spPr/>
        <p:txBody>
          <a:bodyPr/>
          <a:lstStyle/>
          <a:p>
            <a:pPr algn="ctr"/>
            <a:r>
              <a:rPr lang="en-US" dirty="0">
                <a:solidFill>
                  <a:srgbClr val="FF6600"/>
                </a:solidFill>
                <a:ea typeface="+mj-lt"/>
                <a:cs typeface="+mj-lt"/>
              </a:rPr>
              <a:t>Data overview</a:t>
            </a:r>
            <a:endParaRPr lang="en-US" dirty="0">
              <a:cs typeface="Calibri Light" panose="020F0302020204030204"/>
            </a:endParaRPr>
          </a:p>
        </p:txBody>
      </p:sp>
      <p:sp>
        <p:nvSpPr>
          <p:cNvPr id="3" name="Content Placeholder 2">
            <a:extLst>
              <a:ext uri="{FF2B5EF4-FFF2-40B4-BE49-F238E27FC236}">
                <a16:creationId xmlns:a16="http://schemas.microsoft.com/office/drawing/2014/main" id="{1CD04BA5-BAFC-4D44-B949-32066F49764C}"/>
              </a:ext>
            </a:extLst>
          </p:cNvPr>
          <p:cNvSpPr>
            <a:spLocks noGrp="1"/>
          </p:cNvSpPr>
          <p:nvPr>
            <p:ph idx="1"/>
          </p:nvPr>
        </p:nvSpPr>
        <p:spPr/>
        <p:txBody>
          <a:bodyPr vert="horz" lIns="91440" tIns="45720" rIns="91440" bIns="45720" rtlCol="0" anchor="t">
            <a:normAutofit/>
          </a:bodyPr>
          <a:lstStyle/>
          <a:p>
            <a:r>
              <a:rPr lang="en-US" dirty="0">
                <a:solidFill>
                  <a:schemeClr val="bg1"/>
                </a:solidFill>
                <a:cs typeface="Calibri"/>
              </a:rPr>
              <a:t>Data refer to the time period from 31/01/2016 to 31/12/2018</a:t>
            </a:r>
          </a:p>
          <a:p>
            <a:r>
              <a:rPr lang="en-US" dirty="0">
                <a:solidFill>
                  <a:schemeClr val="bg1"/>
                </a:solidFill>
                <a:cs typeface="Calibri"/>
              </a:rPr>
              <a:t>4 data sets are given:</a:t>
            </a:r>
          </a:p>
          <a:p>
            <a:endParaRPr lang="en-US" dirty="0">
              <a:solidFill>
                <a:schemeClr val="bg1"/>
              </a:solidFill>
              <a:cs typeface="Calibri"/>
            </a:endParaRPr>
          </a:p>
          <a:p>
            <a:pPr marL="514350" indent="-514350">
              <a:buAutoNum type="arabicPeriod"/>
            </a:pPr>
            <a:r>
              <a:rPr lang="en-US" dirty="0">
                <a:solidFill>
                  <a:schemeClr val="bg1"/>
                </a:solidFill>
                <a:cs typeface="Calibri"/>
              </a:rPr>
              <a:t>Cab data: main data set with all transactions for the Pink and the Yellow Cab Companies.</a:t>
            </a:r>
          </a:p>
          <a:p>
            <a:pPr marL="514350" indent="-514350">
              <a:buAutoNum type="arabicPeriod"/>
            </a:pPr>
            <a:r>
              <a:rPr lang="en-US" dirty="0">
                <a:solidFill>
                  <a:schemeClr val="bg1"/>
                </a:solidFill>
                <a:ea typeface="+mn-lt"/>
                <a:cs typeface="+mn-lt"/>
              </a:rPr>
              <a:t>Customer ID: contains customer data.</a:t>
            </a:r>
            <a:endParaRPr lang="en-US" dirty="0" err="1">
              <a:solidFill>
                <a:schemeClr val="bg1"/>
              </a:solidFill>
              <a:ea typeface="+mn-lt"/>
              <a:cs typeface="+mn-lt"/>
            </a:endParaRPr>
          </a:p>
          <a:p>
            <a:pPr marL="514350" indent="-514350">
              <a:buAutoNum type="arabicPeriod"/>
            </a:pPr>
            <a:r>
              <a:rPr lang="en-US" dirty="0">
                <a:solidFill>
                  <a:schemeClr val="bg1"/>
                </a:solidFill>
                <a:ea typeface="+mn-lt"/>
                <a:cs typeface="+mn-lt"/>
              </a:rPr>
              <a:t>Transaction ID: contains transaction data.</a:t>
            </a:r>
          </a:p>
          <a:p>
            <a:pPr marL="514350" indent="-514350">
              <a:buAutoNum type="arabicPeriod"/>
            </a:pPr>
            <a:r>
              <a:rPr lang="en-US" dirty="0">
                <a:solidFill>
                  <a:schemeClr val="bg1"/>
                </a:solidFill>
                <a:ea typeface="+mn-lt"/>
                <a:cs typeface="+mn-lt"/>
              </a:rPr>
              <a:t>City: contains population data of all cities/states that transactions take place.</a:t>
            </a:r>
          </a:p>
        </p:txBody>
      </p:sp>
    </p:spTree>
    <p:extLst>
      <p:ext uri="{BB962C8B-B14F-4D97-AF65-F5344CB8AC3E}">
        <p14:creationId xmlns:p14="http://schemas.microsoft.com/office/powerpoint/2010/main" val="2879305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8C2D-9CAA-452D-B853-C5B103BC6B9B}"/>
              </a:ext>
            </a:extLst>
          </p:cNvPr>
          <p:cNvSpPr>
            <a:spLocks noGrp="1"/>
          </p:cNvSpPr>
          <p:nvPr>
            <p:ph type="title"/>
          </p:nvPr>
        </p:nvSpPr>
        <p:spPr/>
        <p:txBody>
          <a:bodyPr/>
          <a:lstStyle/>
          <a:p>
            <a:pPr algn="ctr"/>
            <a:r>
              <a:rPr lang="en-US" dirty="0">
                <a:solidFill>
                  <a:srgbClr val="FF6600"/>
                </a:solidFill>
                <a:ea typeface="+mj-lt"/>
                <a:cs typeface="+mj-lt"/>
              </a:rPr>
              <a:t>Hypothesis 1: Total Income, Rides &amp; Average</a:t>
            </a:r>
          </a:p>
        </p:txBody>
      </p:sp>
      <p:graphicFrame>
        <p:nvGraphicFramePr>
          <p:cNvPr id="8" name="Table 8">
            <a:extLst>
              <a:ext uri="{FF2B5EF4-FFF2-40B4-BE49-F238E27FC236}">
                <a16:creationId xmlns:a16="http://schemas.microsoft.com/office/drawing/2014/main" id="{580BA074-1C5D-49A7-87A3-680BA4B4E4E7}"/>
              </a:ext>
            </a:extLst>
          </p:cNvPr>
          <p:cNvGraphicFramePr>
            <a:graphicFrameLocks noGrp="1"/>
          </p:cNvGraphicFramePr>
          <p:nvPr>
            <p:ph idx="1"/>
            <p:extLst>
              <p:ext uri="{D42A27DB-BD31-4B8C-83A1-F6EECF244321}">
                <p14:modId xmlns:p14="http://schemas.microsoft.com/office/powerpoint/2010/main" val="1280891757"/>
              </p:ext>
            </p:extLst>
          </p:nvPr>
        </p:nvGraphicFramePr>
        <p:xfrm>
          <a:off x="848032" y="2212258"/>
          <a:ext cx="10515597" cy="3023419"/>
        </p:xfrm>
        <a:graphic>
          <a:graphicData uri="http://schemas.openxmlformats.org/drawingml/2006/table">
            <a:tbl>
              <a:tblPr firstRow="1" bandRow="1">
                <a:tableStyleId>{21E4AEA4-8DFA-4A89-87EB-49C32662AFE0}</a:tableStyleId>
              </a:tblPr>
              <a:tblGrid>
                <a:gridCol w="3502741">
                  <a:extLst>
                    <a:ext uri="{9D8B030D-6E8A-4147-A177-3AD203B41FA5}">
                      <a16:colId xmlns:a16="http://schemas.microsoft.com/office/drawing/2014/main" val="1234691610"/>
                    </a:ext>
                  </a:extLst>
                </a:gridCol>
                <a:gridCol w="3507657">
                  <a:extLst>
                    <a:ext uri="{9D8B030D-6E8A-4147-A177-3AD203B41FA5}">
                      <a16:colId xmlns:a16="http://schemas.microsoft.com/office/drawing/2014/main" val="2682850833"/>
                    </a:ext>
                  </a:extLst>
                </a:gridCol>
                <a:gridCol w="3505199">
                  <a:extLst>
                    <a:ext uri="{9D8B030D-6E8A-4147-A177-3AD203B41FA5}">
                      <a16:colId xmlns:a16="http://schemas.microsoft.com/office/drawing/2014/main" val="693669208"/>
                    </a:ext>
                  </a:extLst>
                </a:gridCol>
              </a:tblGrid>
              <a:tr h="760381">
                <a:tc>
                  <a:txBody>
                    <a:bodyPr/>
                    <a:lstStyle/>
                    <a:p>
                      <a:endParaRPr lang="en-US"/>
                    </a:p>
                  </a:txBody>
                  <a:tcPr/>
                </a:tc>
                <a:tc>
                  <a:txBody>
                    <a:bodyPr/>
                    <a:lstStyle/>
                    <a:p>
                      <a:pPr lvl="0" algn="ctr">
                        <a:buNone/>
                      </a:pPr>
                      <a:r>
                        <a:rPr lang="en-US"/>
                        <a:t>Pink Cab</a:t>
                      </a:r>
                      <a:endParaRPr lang="en-US" dirty="0"/>
                    </a:p>
                  </a:txBody>
                  <a:tcPr/>
                </a:tc>
                <a:tc>
                  <a:txBody>
                    <a:bodyPr/>
                    <a:lstStyle/>
                    <a:p>
                      <a:pPr algn="ctr"/>
                      <a:r>
                        <a:rPr lang="en-US"/>
                        <a:t>Yellow Cab</a:t>
                      </a:r>
                    </a:p>
                  </a:txBody>
                  <a:tcPr/>
                </a:tc>
                <a:extLst>
                  <a:ext uri="{0D108BD9-81ED-4DB2-BD59-A6C34878D82A}">
                    <a16:rowId xmlns:a16="http://schemas.microsoft.com/office/drawing/2014/main" val="1668457503"/>
                  </a:ext>
                </a:extLst>
              </a:tr>
              <a:tr h="760381">
                <a:tc>
                  <a:txBody>
                    <a:bodyPr/>
                    <a:lstStyle/>
                    <a:p>
                      <a:pPr algn="ctr"/>
                      <a:r>
                        <a:rPr lang="en-US"/>
                        <a:t>Total Income</a:t>
                      </a:r>
                    </a:p>
                  </a:txBody>
                  <a:tcPr/>
                </a:tc>
                <a:tc>
                  <a:txBody>
                    <a:bodyPr/>
                    <a:lstStyle/>
                    <a:p>
                      <a:pPr algn="ctr"/>
                      <a:r>
                        <a:rPr lang="en-US"/>
                        <a:t>5.307.328</a:t>
                      </a:r>
                    </a:p>
                  </a:txBody>
                  <a:tcPr/>
                </a:tc>
                <a:tc>
                  <a:txBody>
                    <a:bodyPr/>
                    <a:lstStyle/>
                    <a:p>
                      <a:pPr algn="ctr"/>
                      <a:r>
                        <a:rPr lang="en-US"/>
                        <a:t>44.020.373</a:t>
                      </a:r>
                    </a:p>
                  </a:txBody>
                  <a:tcPr/>
                </a:tc>
                <a:extLst>
                  <a:ext uri="{0D108BD9-81ED-4DB2-BD59-A6C34878D82A}">
                    <a16:rowId xmlns:a16="http://schemas.microsoft.com/office/drawing/2014/main" val="2596077844"/>
                  </a:ext>
                </a:extLst>
              </a:tr>
              <a:tr h="760381">
                <a:tc>
                  <a:txBody>
                    <a:bodyPr/>
                    <a:lstStyle/>
                    <a:p>
                      <a:pPr algn="ctr"/>
                      <a:r>
                        <a:rPr lang="en-US"/>
                        <a:t>Total rides</a:t>
                      </a:r>
                    </a:p>
                  </a:txBody>
                  <a:tcPr/>
                </a:tc>
                <a:tc>
                  <a:txBody>
                    <a:bodyPr/>
                    <a:lstStyle/>
                    <a:p>
                      <a:pPr algn="ctr"/>
                      <a:r>
                        <a:rPr lang="en-US"/>
                        <a:t>84.711</a:t>
                      </a:r>
                    </a:p>
                  </a:txBody>
                  <a:tcPr/>
                </a:tc>
                <a:tc>
                  <a:txBody>
                    <a:bodyPr/>
                    <a:lstStyle/>
                    <a:p>
                      <a:pPr algn="ctr"/>
                      <a:r>
                        <a:rPr lang="en-US"/>
                        <a:t>274.681</a:t>
                      </a:r>
                    </a:p>
                  </a:txBody>
                  <a:tcPr/>
                </a:tc>
                <a:extLst>
                  <a:ext uri="{0D108BD9-81ED-4DB2-BD59-A6C34878D82A}">
                    <a16:rowId xmlns:a16="http://schemas.microsoft.com/office/drawing/2014/main" val="4112921496"/>
                  </a:ext>
                </a:extLst>
              </a:tr>
              <a:tr h="742276">
                <a:tc>
                  <a:txBody>
                    <a:bodyPr/>
                    <a:lstStyle/>
                    <a:p>
                      <a:pPr algn="ctr"/>
                      <a:r>
                        <a:rPr lang="en-US"/>
                        <a:t>Average price per ride</a:t>
                      </a:r>
                    </a:p>
                  </a:txBody>
                  <a:tcPr/>
                </a:tc>
                <a:tc>
                  <a:txBody>
                    <a:bodyPr/>
                    <a:lstStyle/>
                    <a:p>
                      <a:pPr algn="ctr"/>
                      <a:r>
                        <a:rPr lang="en-US"/>
                        <a:t>62,65</a:t>
                      </a:r>
                    </a:p>
                  </a:txBody>
                  <a:tcPr/>
                </a:tc>
                <a:tc>
                  <a:txBody>
                    <a:bodyPr/>
                    <a:lstStyle/>
                    <a:p>
                      <a:pPr algn="ctr"/>
                      <a:r>
                        <a:rPr lang="en-US"/>
                        <a:t>160,26</a:t>
                      </a:r>
                    </a:p>
                  </a:txBody>
                  <a:tcPr/>
                </a:tc>
                <a:extLst>
                  <a:ext uri="{0D108BD9-81ED-4DB2-BD59-A6C34878D82A}">
                    <a16:rowId xmlns:a16="http://schemas.microsoft.com/office/drawing/2014/main" val="3811765366"/>
                  </a:ext>
                </a:extLst>
              </a:tr>
            </a:tbl>
          </a:graphicData>
        </a:graphic>
      </p:graphicFrame>
    </p:spTree>
    <p:extLst>
      <p:ext uri="{BB962C8B-B14F-4D97-AF65-F5344CB8AC3E}">
        <p14:creationId xmlns:p14="http://schemas.microsoft.com/office/powerpoint/2010/main" val="1350417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AEF5-6417-4297-8AF0-A352AB39C0FA}"/>
              </a:ext>
            </a:extLst>
          </p:cNvPr>
          <p:cNvSpPr>
            <a:spLocks noGrp="1"/>
          </p:cNvSpPr>
          <p:nvPr>
            <p:ph type="title"/>
          </p:nvPr>
        </p:nvSpPr>
        <p:spPr/>
        <p:txBody>
          <a:bodyPr/>
          <a:lstStyle/>
          <a:p>
            <a:pPr algn="ctr"/>
            <a:r>
              <a:rPr lang="en-US">
                <a:solidFill>
                  <a:srgbClr val="FF6600"/>
                </a:solidFill>
                <a:ea typeface="+mj-lt"/>
                <a:cs typeface="+mj-lt"/>
              </a:rPr>
              <a:t>Hypothesis 2: Total Income per City/State</a:t>
            </a:r>
            <a:endParaRPr lang="en-US">
              <a:ea typeface="+mj-lt"/>
              <a:cs typeface="+mj-lt"/>
            </a:endParaRPr>
          </a:p>
        </p:txBody>
      </p:sp>
      <p:pic>
        <p:nvPicPr>
          <p:cNvPr id="10" name="Picture 10" descr="Chart&#10;&#10;Description automatically generated">
            <a:extLst>
              <a:ext uri="{FF2B5EF4-FFF2-40B4-BE49-F238E27FC236}">
                <a16:creationId xmlns:a16="http://schemas.microsoft.com/office/drawing/2014/main" id="{69B816AE-C5C7-401E-AA9C-882EE57DF058}"/>
              </a:ext>
            </a:extLst>
          </p:cNvPr>
          <p:cNvPicPr>
            <a:picLocks noGrp="1" noChangeAspect="1"/>
          </p:cNvPicPr>
          <p:nvPr>
            <p:ph idx="1"/>
          </p:nvPr>
        </p:nvPicPr>
        <p:blipFill>
          <a:blip r:embed="rId2"/>
          <a:stretch>
            <a:fillRect/>
          </a:stretch>
        </p:blipFill>
        <p:spPr>
          <a:xfrm>
            <a:off x="838200" y="1979063"/>
            <a:ext cx="10515600" cy="4044462"/>
          </a:xfrm>
        </p:spPr>
      </p:pic>
    </p:spTree>
    <p:extLst>
      <p:ext uri="{BB962C8B-B14F-4D97-AF65-F5344CB8AC3E}">
        <p14:creationId xmlns:p14="http://schemas.microsoft.com/office/powerpoint/2010/main" val="1135851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74668-34C9-477F-94A6-63714EA7DC47}"/>
              </a:ext>
            </a:extLst>
          </p:cNvPr>
          <p:cNvSpPr>
            <a:spLocks noGrp="1"/>
          </p:cNvSpPr>
          <p:nvPr>
            <p:ph type="title"/>
          </p:nvPr>
        </p:nvSpPr>
        <p:spPr/>
        <p:txBody>
          <a:bodyPr/>
          <a:lstStyle/>
          <a:p>
            <a:pPr algn="ctr"/>
            <a:r>
              <a:rPr lang="en-US">
                <a:solidFill>
                  <a:srgbClr val="FF6600"/>
                </a:solidFill>
                <a:ea typeface="+mj-lt"/>
                <a:cs typeface="+mj-lt"/>
              </a:rPr>
              <a:t>Hypothesis 3: Income rate in time matter</a:t>
            </a:r>
            <a:endParaRPr lang="en-US">
              <a:ea typeface="+mj-lt"/>
              <a:cs typeface="+mj-lt"/>
            </a:endParaRPr>
          </a:p>
        </p:txBody>
      </p:sp>
      <p:pic>
        <p:nvPicPr>
          <p:cNvPr id="5" name="Picture 5" descr="Diagram&#10;&#10;Description automatically generated">
            <a:extLst>
              <a:ext uri="{FF2B5EF4-FFF2-40B4-BE49-F238E27FC236}">
                <a16:creationId xmlns:a16="http://schemas.microsoft.com/office/drawing/2014/main" id="{8B8FFB15-7BFF-448E-A38B-B27BADB59DBD}"/>
              </a:ext>
            </a:extLst>
          </p:cNvPr>
          <p:cNvPicPr>
            <a:picLocks noGrp="1" noChangeAspect="1"/>
          </p:cNvPicPr>
          <p:nvPr>
            <p:ph sz="half" idx="1"/>
          </p:nvPr>
        </p:nvPicPr>
        <p:blipFill>
          <a:blip r:embed="rId2"/>
          <a:stretch>
            <a:fillRect/>
          </a:stretch>
        </p:blipFill>
        <p:spPr>
          <a:xfrm>
            <a:off x="838200" y="2058194"/>
            <a:ext cx="5181600" cy="3886200"/>
          </a:xfrm>
        </p:spPr>
      </p:pic>
      <p:pic>
        <p:nvPicPr>
          <p:cNvPr id="6" name="Picture 6" descr="Chart&#10;&#10;Description automatically generated">
            <a:extLst>
              <a:ext uri="{FF2B5EF4-FFF2-40B4-BE49-F238E27FC236}">
                <a16:creationId xmlns:a16="http://schemas.microsoft.com/office/drawing/2014/main" id="{A3872E7F-4517-4B8D-A0E7-4EE51ABBBEB3}"/>
              </a:ext>
            </a:extLst>
          </p:cNvPr>
          <p:cNvPicPr>
            <a:picLocks noGrp="1" noChangeAspect="1"/>
          </p:cNvPicPr>
          <p:nvPr>
            <p:ph sz="half" idx="2"/>
          </p:nvPr>
        </p:nvPicPr>
        <p:blipFill>
          <a:blip r:embed="rId3"/>
          <a:stretch>
            <a:fillRect/>
          </a:stretch>
        </p:blipFill>
        <p:spPr>
          <a:xfrm>
            <a:off x="6344265" y="2058194"/>
            <a:ext cx="5181600" cy="3886200"/>
          </a:xfrm>
        </p:spPr>
      </p:pic>
    </p:spTree>
    <p:extLst>
      <p:ext uri="{BB962C8B-B14F-4D97-AF65-F5344CB8AC3E}">
        <p14:creationId xmlns:p14="http://schemas.microsoft.com/office/powerpoint/2010/main" val="669573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2BB28-159F-4511-9B42-36741A426110}"/>
              </a:ext>
            </a:extLst>
          </p:cNvPr>
          <p:cNvSpPr>
            <a:spLocks noGrp="1"/>
          </p:cNvSpPr>
          <p:nvPr>
            <p:ph type="title"/>
          </p:nvPr>
        </p:nvSpPr>
        <p:spPr/>
        <p:txBody>
          <a:bodyPr/>
          <a:lstStyle/>
          <a:p>
            <a:pPr algn="ctr"/>
            <a:r>
              <a:rPr lang="en-US" dirty="0">
                <a:solidFill>
                  <a:srgbClr val="FF6600"/>
                </a:solidFill>
                <a:ea typeface="+mj-lt"/>
                <a:cs typeface="+mj-lt"/>
              </a:rPr>
              <a:t>Hypothesis 4: Profile Analysis</a:t>
            </a:r>
            <a:br>
              <a:rPr lang="en-US" dirty="0">
                <a:solidFill>
                  <a:srgbClr val="FF6600"/>
                </a:solidFill>
                <a:ea typeface="+mj-lt"/>
                <a:cs typeface="+mj-lt"/>
              </a:rPr>
            </a:br>
            <a:r>
              <a:rPr lang="en-US">
                <a:solidFill>
                  <a:srgbClr val="FF6600"/>
                </a:solidFill>
                <a:ea typeface="+mj-lt"/>
                <a:cs typeface="+mj-lt"/>
              </a:rPr>
              <a:t>Pie plot for age class</a:t>
            </a:r>
            <a:endParaRPr lang="en-US" dirty="0">
              <a:solidFill>
                <a:srgbClr val="FF6600"/>
              </a:solidFill>
              <a:ea typeface="+mj-lt"/>
              <a:cs typeface="+mj-lt"/>
            </a:endParaRPr>
          </a:p>
        </p:txBody>
      </p:sp>
      <p:pic>
        <p:nvPicPr>
          <p:cNvPr id="19" name="Picture 19" descr="Chart, pie chart&#10;&#10;Description automatically generated">
            <a:extLst>
              <a:ext uri="{FF2B5EF4-FFF2-40B4-BE49-F238E27FC236}">
                <a16:creationId xmlns:a16="http://schemas.microsoft.com/office/drawing/2014/main" id="{8CBF9ED8-F4D0-423F-84C1-C867059036D6}"/>
              </a:ext>
            </a:extLst>
          </p:cNvPr>
          <p:cNvPicPr>
            <a:picLocks noGrp="1" noChangeAspect="1"/>
          </p:cNvPicPr>
          <p:nvPr>
            <p:ph idx="1"/>
          </p:nvPr>
        </p:nvPicPr>
        <p:blipFill>
          <a:blip r:embed="rId2"/>
          <a:stretch>
            <a:fillRect/>
          </a:stretch>
        </p:blipFill>
        <p:spPr>
          <a:xfrm>
            <a:off x="838200" y="1979063"/>
            <a:ext cx="10515600" cy="4044462"/>
          </a:xfrm>
        </p:spPr>
      </p:pic>
    </p:spTree>
    <p:extLst>
      <p:ext uri="{BB962C8B-B14F-4D97-AF65-F5344CB8AC3E}">
        <p14:creationId xmlns:p14="http://schemas.microsoft.com/office/powerpoint/2010/main" val="2488865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55870-1605-466E-8DA1-9280B97022C1}"/>
              </a:ext>
            </a:extLst>
          </p:cNvPr>
          <p:cNvSpPr>
            <a:spLocks noGrp="1"/>
          </p:cNvSpPr>
          <p:nvPr>
            <p:ph type="title"/>
          </p:nvPr>
        </p:nvSpPr>
        <p:spPr/>
        <p:txBody>
          <a:bodyPr/>
          <a:lstStyle/>
          <a:p>
            <a:pPr algn="ctr"/>
            <a:r>
              <a:rPr lang="en-US" dirty="0">
                <a:solidFill>
                  <a:srgbClr val="FF6600"/>
                </a:solidFill>
                <a:ea typeface="+mj-lt"/>
                <a:cs typeface="+mj-lt"/>
              </a:rPr>
              <a:t>Hypothesis 4: Profile Analysis</a:t>
            </a:r>
            <a:br>
              <a:rPr lang="en-US" dirty="0">
                <a:solidFill>
                  <a:srgbClr val="FF6600"/>
                </a:solidFill>
                <a:ea typeface="+mj-lt"/>
                <a:cs typeface="+mj-lt"/>
              </a:rPr>
            </a:br>
            <a:r>
              <a:rPr lang="en-US">
                <a:solidFill>
                  <a:srgbClr val="FF6600"/>
                </a:solidFill>
                <a:ea typeface="+mj-lt"/>
                <a:cs typeface="+mj-lt"/>
              </a:rPr>
              <a:t>Company Income per age class</a:t>
            </a:r>
          </a:p>
        </p:txBody>
      </p:sp>
      <p:pic>
        <p:nvPicPr>
          <p:cNvPr id="37" name="Picture 37">
            <a:extLst>
              <a:ext uri="{FF2B5EF4-FFF2-40B4-BE49-F238E27FC236}">
                <a16:creationId xmlns:a16="http://schemas.microsoft.com/office/drawing/2014/main" id="{AB6BE617-CBD4-41C3-AF17-975C7FD76F09}"/>
              </a:ext>
            </a:extLst>
          </p:cNvPr>
          <p:cNvPicPr>
            <a:picLocks noGrp="1" noChangeAspect="1"/>
          </p:cNvPicPr>
          <p:nvPr>
            <p:ph idx="1"/>
          </p:nvPr>
        </p:nvPicPr>
        <p:blipFill>
          <a:blip r:embed="rId2"/>
          <a:stretch>
            <a:fillRect/>
          </a:stretch>
        </p:blipFill>
        <p:spPr>
          <a:xfrm>
            <a:off x="838200" y="1979063"/>
            <a:ext cx="10515600" cy="4044462"/>
          </a:xfrm>
        </p:spPr>
      </p:pic>
    </p:spTree>
    <p:extLst>
      <p:ext uri="{BB962C8B-B14F-4D97-AF65-F5344CB8AC3E}">
        <p14:creationId xmlns:p14="http://schemas.microsoft.com/office/powerpoint/2010/main" val="3989220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06F1A-DF99-44E8-8B9E-949C84B065CE}"/>
              </a:ext>
            </a:extLst>
          </p:cNvPr>
          <p:cNvSpPr>
            <a:spLocks noGrp="1"/>
          </p:cNvSpPr>
          <p:nvPr>
            <p:ph type="title"/>
          </p:nvPr>
        </p:nvSpPr>
        <p:spPr/>
        <p:txBody>
          <a:bodyPr/>
          <a:lstStyle/>
          <a:p>
            <a:pPr algn="ctr"/>
            <a:r>
              <a:rPr lang="en-US">
                <a:solidFill>
                  <a:srgbClr val="FF6600"/>
                </a:solidFill>
                <a:ea typeface="+mj-lt"/>
                <a:cs typeface="+mj-lt"/>
              </a:rPr>
              <a:t>Hypothesis 4: Profile Analysis</a:t>
            </a:r>
            <a:br>
              <a:rPr lang="en-US" dirty="0">
                <a:solidFill>
                  <a:srgbClr val="FF6600"/>
                </a:solidFill>
                <a:ea typeface="+mj-lt"/>
                <a:cs typeface="+mj-lt"/>
              </a:rPr>
            </a:br>
            <a:r>
              <a:rPr lang="en-US">
                <a:solidFill>
                  <a:srgbClr val="FF6600"/>
                </a:solidFill>
                <a:ea typeface="+mj-lt"/>
                <a:cs typeface="+mj-lt"/>
              </a:rPr>
              <a:t>Company Income per user income</a:t>
            </a:r>
            <a:endParaRPr lang="en-US">
              <a:ea typeface="+mj-lt"/>
              <a:cs typeface="+mj-lt"/>
            </a:endParaRPr>
          </a:p>
        </p:txBody>
      </p:sp>
      <p:pic>
        <p:nvPicPr>
          <p:cNvPr id="13" name="Picture 13" descr="Chart, bar chart&#10;&#10;Description automatically generated">
            <a:extLst>
              <a:ext uri="{FF2B5EF4-FFF2-40B4-BE49-F238E27FC236}">
                <a16:creationId xmlns:a16="http://schemas.microsoft.com/office/drawing/2014/main" id="{04E541ED-49F9-4F64-ACE6-1B398F9BE174}"/>
              </a:ext>
            </a:extLst>
          </p:cNvPr>
          <p:cNvPicPr>
            <a:picLocks noGrp="1" noChangeAspect="1"/>
          </p:cNvPicPr>
          <p:nvPr>
            <p:ph idx="1"/>
          </p:nvPr>
        </p:nvPicPr>
        <p:blipFill>
          <a:blip r:embed="rId2"/>
          <a:stretch>
            <a:fillRect/>
          </a:stretch>
        </p:blipFill>
        <p:spPr>
          <a:xfrm>
            <a:off x="838200" y="1979063"/>
            <a:ext cx="10515600" cy="4044462"/>
          </a:xfrm>
        </p:spPr>
      </p:pic>
    </p:spTree>
    <p:extLst>
      <p:ext uri="{BB962C8B-B14F-4D97-AF65-F5344CB8AC3E}">
        <p14:creationId xmlns:p14="http://schemas.microsoft.com/office/powerpoint/2010/main" val="1494814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6ED4-A2E7-4B0C-9F13-FC553070C2C3}"/>
              </a:ext>
            </a:extLst>
          </p:cNvPr>
          <p:cNvSpPr>
            <a:spLocks noGrp="1"/>
          </p:cNvSpPr>
          <p:nvPr>
            <p:ph type="title"/>
          </p:nvPr>
        </p:nvSpPr>
        <p:spPr/>
        <p:txBody>
          <a:bodyPr/>
          <a:lstStyle/>
          <a:p>
            <a:pPr algn="ctr"/>
            <a:r>
              <a:rPr lang="en-US">
                <a:solidFill>
                  <a:srgbClr val="FF6600"/>
                </a:solidFill>
                <a:ea typeface="+mj-lt"/>
                <a:cs typeface="+mj-lt"/>
              </a:rPr>
              <a:t>Hypothesis 4: Profile Analysis</a:t>
            </a:r>
            <a:br>
              <a:rPr lang="en-US" dirty="0">
                <a:solidFill>
                  <a:srgbClr val="FF6600"/>
                </a:solidFill>
                <a:ea typeface="+mj-lt"/>
                <a:cs typeface="+mj-lt"/>
              </a:rPr>
            </a:br>
            <a:r>
              <a:rPr lang="en-US">
                <a:solidFill>
                  <a:srgbClr val="FF6600"/>
                </a:solidFill>
                <a:ea typeface="+mj-lt"/>
                <a:cs typeface="+mj-lt"/>
              </a:rPr>
              <a:t>Company Income per gender</a:t>
            </a:r>
            <a:endParaRPr lang="en-US">
              <a:ea typeface="+mj-lt"/>
              <a:cs typeface="+mj-lt"/>
            </a:endParaRPr>
          </a:p>
        </p:txBody>
      </p:sp>
      <p:pic>
        <p:nvPicPr>
          <p:cNvPr id="4" name="Picture 4" descr="Chart, waterfall chart&#10;&#10;Description automatically generated">
            <a:extLst>
              <a:ext uri="{FF2B5EF4-FFF2-40B4-BE49-F238E27FC236}">
                <a16:creationId xmlns:a16="http://schemas.microsoft.com/office/drawing/2014/main" id="{2538EB9A-FD44-4699-827C-B28321A91D35}"/>
              </a:ext>
            </a:extLst>
          </p:cNvPr>
          <p:cNvPicPr>
            <a:picLocks noGrp="1" noChangeAspect="1"/>
          </p:cNvPicPr>
          <p:nvPr>
            <p:ph idx="1"/>
          </p:nvPr>
        </p:nvPicPr>
        <p:blipFill>
          <a:blip r:embed="rId2"/>
          <a:stretch>
            <a:fillRect/>
          </a:stretch>
        </p:blipFill>
        <p:spPr>
          <a:xfrm>
            <a:off x="838200" y="1979063"/>
            <a:ext cx="10515600" cy="4044462"/>
          </a:xfrm>
        </p:spPr>
      </p:pic>
    </p:spTree>
    <p:extLst>
      <p:ext uri="{BB962C8B-B14F-4D97-AF65-F5344CB8AC3E}">
        <p14:creationId xmlns:p14="http://schemas.microsoft.com/office/powerpoint/2010/main" val="1761365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75313-2615-4C21-9FBF-423ADEE6524E}"/>
              </a:ext>
            </a:extLst>
          </p:cNvPr>
          <p:cNvSpPr>
            <a:spLocks noGrp="1"/>
          </p:cNvSpPr>
          <p:nvPr>
            <p:ph type="title"/>
          </p:nvPr>
        </p:nvSpPr>
        <p:spPr/>
        <p:txBody>
          <a:bodyPr/>
          <a:lstStyle/>
          <a:p>
            <a:pPr algn="ctr"/>
            <a:r>
              <a:rPr lang="en-US">
                <a:solidFill>
                  <a:srgbClr val="FF6600"/>
                </a:solidFill>
                <a:ea typeface="+mj-lt"/>
                <a:cs typeface="+mj-lt"/>
              </a:rPr>
              <a:t>Hypothesis 5: Kilometers Analysis</a:t>
            </a:r>
          </a:p>
        </p:txBody>
      </p:sp>
      <p:pic>
        <p:nvPicPr>
          <p:cNvPr id="4" name="Picture 4" descr="Chart, bar chart&#10;&#10;Description automatically generated">
            <a:extLst>
              <a:ext uri="{FF2B5EF4-FFF2-40B4-BE49-F238E27FC236}">
                <a16:creationId xmlns:a16="http://schemas.microsoft.com/office/drawing/2014/main" id="{662502A0-1E0D-44F0-825E-8F3F87210155}"/>
              </a:ext>
            </a:extLst>
          </p:cNvPr>
          <p:cNvPicPr>
            <a:picLocks noGrp="1" noChangeAspect="1"/>
          </p:cNvPicPr>
          <p:nvPr>
            <p:ph idx="1"/>
          </p:nvPr>
        </p:nvPicPr>
        <p:blipFill>
          <a:blip r:embed="rId2"/>
          <a:stretch>
            <a:fillRect/>
          </a:stretch>
        </p:blipFill>
        <p:spPr>
          <a:xfrm>
            <a:off x="838200" y="1610353"/>
            <a:ext cx="10515600" cy="4044462"/>
          </a:xfrm>
        </p:spPr>
      </p:pic>
      <p:graphicFrame>
        <p:nvGraphicFramePr>
          <p:cNvPr id="6" name="Table 6">
            <a:extLst>
              <a:ext uri="{FF2B5EF4-FFF2-40B4-BE49-F238E27FC236}">
                <a16:creationId xmlns:a16="http://schemas.microsoft.com/office/drawing/2014/main" id="{FD4A5DB6-D57A-4140-8225-0BC22F22792A}"/>
              </a:ext>
            </a:extLst>
          </p:cNvPr>
          <p:cNvGraphicFramePr>
            <a:graphicFrameLocks noGrp="1"/>
          </p:cNvGraphicFramePr>
          <p:nvPr>
            <p:extLst>
              <p:ext uri="{D42A27DB-BD31-4B8C-83A1-F6EECF244321}">
                <p14:modId xmlns:p14="http://schemas.microsoft.com/office/powerpoint/2010/main" val="4160351975"/>
              </p:ext>
            </p:extLst>
          </p:nvPr>
        </p:nvGraphicFramePr>
        <p:xfrm>
          <a:off x="1962519" y="5908892"/>
          <a:ext cx="8168640" cy="741680"/>
        </p:xfrm>
        <a:graphic>
          <a:graphicData uri="http://schemas.openxmlformats.org/drawingml/2006/table">
            <a:tbl>
              <a:tblPr firstRow="1" bandRow="1">
                <a:tableStyleId>{21E4AEA4-8DFA-4A89-87EB-49C32662AFE0}</a:tableStyleId>
              </a:tblPr>
              <a:tblGrid>
                <a:gridCol w="2722880">
                  <a:extLst>
                    <a:ext uri="{9D8B030D-6E8A-4147-A177-3AD203B41FA5}">
                      <a16:colId xmlns:a16="http://schemas.microsoft.com/office/drawing/2014/main" val="1180368755"/>
                    </a:ext>
                  </a:extLst>
                </a:gridCol>
                <a:gridCol w="2722880">
                  <a:extLst>
                    <a:ext uri="{9D8B030D-6E8A-4147-A177-3AD203B41FA5}">
                      <a16:colId xmlns:a16="http://schemas.microsoft.com/office/drawing/2014/main" val="454500761"/>
                    </a:ext>
                  </a:extLst>
                </a:gridCol>
                <a:gridCol w="2722880">
                  <a:extLst>
                    <a:ext uri="{9D8B030D-6E8A-4147-A177-3AD203B41FA5}">
                      <a16:colId xmlns:a16="http://schemas.microsoft.com/office/drawing/2014/main" val="1600344765"/>
                    </a:ext>
                  </a:extLst>
                </a:gridCol>
              </a:tblGrid>
              <a:tr h="370840">
                <a:tc>
                  <a:txBody>
                    <a:bodyPr/>
                    <a:lstStyle/>
                    <a:p>
                      <a:pPr lvl="0" algn="ctr">
                        <a:buNone/>
                      </a:pPr>
                      <a:endParaRPr lang="en-US" dirty="0"/>
                    </a:p>
                  </a:txBody>
                  <a:tcPr/>
                </a:tc>
                <a:tc>
                  <a:txBody>
                    <a:bodyPr/>
                    <a:lstStyle/>
                    <a:p>
                      <a:pPr lvl="0" algn="ctr">
                        <a:buNone/>
                      </a:pPr>
                      <a:r>
                        <a:rPr lang="en-US"/>
                        <a:t>Pink Cab</a:t>
                      </a:r>
                    </a:p>
                  </a:txBody>
                  <a:tcPr/>
                </a:tc>
                <a:tc>
                  <a:txBody>
                    <a:bodyPr/>
                    <a:lstStyle/>
                    <a:p>
                      <a:pPr lvl="0" algn="ctr">
                        <a:buNone/>
                      </a:pPr>
                      <a:r>
                        <a:rPr lang="en-US"/>
                        <a:t>Yellow Cab</a:t>
                      </a:r>
                    </a:p>
                  </a:txBody>
                  <a:tcPr/>
                </a:tc>
                <a:extLst>
                  <a:ext uri="{0D108BD9-81ED-4DB2-BD59-A6C34878D82A}">
                    <a16:rowId xmlns:a16="http://schemas.microsoft.com/office/drawing/2014/main" val="1586514070"/>
                  </a:ext>
                </a:extLst>
              </a:tr>
              <a:tr h="370840">
                <a:tc>
                  <a:txBody>
                    <a:bodyPr/>
                    <a:lstStyle/>
                    <a:p>
                      <a:pPr lvl="0" algn="ctr">
                        <a:buNone/>
                      </a:pPr>
                      <a:r>
                        <a:rPr lang="en-US"/>
                        <a:t>Average income per ride</a:t>
                      </a:r>
                      <a:endParaRPr lang="en-US" dirty="0"/>
                    </a:p>
                  </a:txBody>
                  <a:tcPr/>
                </a:tc>
                <a:tc>
                  <a:txBody>
                    <a:bodyPr/>
                    <a:lstStyle/>
                    <a:p>
                      <a:pPr lvl="0" algn="ctr">
                        <a:buNone/>
                      </a:pPr>
                      <a:r>
                        <a:rPr lang="en-US"/>
                        <a:t>268,47</a:t>
                      </a:r>
                    </a:p>
                  </a:txBody>
                  <a:tcPr/>
                </a:tc>
                <a:tc>
                  <a:txBody>
                    <a:bodyPr/>
                    <a:lstStyle/>
                    <a:p>
                      <a:pPr lvl="0" algn="ctr">
                        <a:buNone/>
                      </a:pPr>
                      <a:r>
                        <a:rPr lang="en-US"/>
                        <a:t>2.233,13</a:t>
                      </a:r>
                    </a:p>
                  </a:txBody>
                  <a:tcPr/>
                </a:tc>
                <a:extLst>
                  <a:ext uri="{0D108BD9-81ED-4DB2-BD59-A6C34878D82A}">
                    <a16:rowId xmlns:a16="http://schemas.microsoft.com/office/drawing/2014/main" val="3562401992"/>
                  </a:ext>
                </a:extLst>
              </a:tr>
            </a:tbl>
          </a:graphicData>
        </a:graphic>
      </p:graphicFrame>
    </p:spTree>
    <p:extLst>
      <p:ext uri="{BB962C8B-B14F-4D97-AF65-F5344CB8AC3E}">
        <p14:creationId xmlns:p14="http://schemas.microsoft.com/office/powerpoint/2010/main" val="2953180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B0F1C-4340-437E-BB92-526297F20BB8}"/>
              </a:ext>
            </a:extLst>
          </p:cNvPr>
          <p:cNvSpPr>
            <a:spLocks noGrp="1"/>
          </p:cNvSpPr>
          <p:nvPr>
            <p:ph type="title"/>
          </p:nvPr>
        </p:nvSpPr>
        <p:spPr/>
        <p:txBody>
          <a:bodyPr/>
          <a:lstStyle/>
          <a:p>
            <a:pPr algn="ctr"/>
            <a:r>
              <a:rPr lang="en-US" dirty="0">
                <a:solidFill>
                  <a:srgbClr val="FF6600"/>
                </a:solidFill>
                <a:ea typeface="+mj-lt"/>
                <a:cs typeface="+mj-lt"/>
              </a:rPr>
              <a:t>Results &amp; Conclusion</a:t>
            </a:r>
            <a:endParaRPr lang="en-US" dirty="0"/>
          </a:p>
        </p:txBody>
      </p:sp>
      <p:sp>
        <p:nvSpPr>
          <p:cNvPr id="3" name="Content Placeholder 2">
            <a:extLst>
              <a:ext uri="{FF2B5EF4-FFF2-40B4-BE49-F238E27FC236}">
                <a16:creationId xmlns:a16="http://schemas.microsoft.com/office/drawing/2014/main" id="{703AB55A-ECE8-45CB-A715-54B7A42CC6A0}"/>
              </a:ext>
            </a:extLst>
          </p:cNvPr>
          <p:cNvSpPr>
            <a:spLocks noGrp="1"/>
          </p:cNvSpPr>
          <p:nvPr>
            <p:ph idx="1"/>
          </p:nvPr>
        </p:nvSpPr>
        <p:spPr>
          <a:xfrm>
            <a:off x="838200" y="2096012"/>
            <a:ext cx="10515600" cy="4228435"/>
          </a:xfrm>
        </p:spPr>
        <p:txBody>
          <a:bodyPr vert="horz" lIns="91440" tIns="45720" rIns="91440" bIns="45720" rtlCol="0" anchor="t">
            <a:normAutofit/>
          </a:bodyPr>
          <a:lstStyle/>
          <a:p>
            <a:pPr>
              <a:buFont typeface="Arial"/>
              <a:buChar char="•"/>
            </a:pPr>
            <a:r>
              <a:rPr lang="en-US" dirty="0">
                <a:solidFill>
                  <a:schemeClr val="bg1"/>
                </a:solidFill>
                <a:ea typeface="+mn-lt"/>
                <a:cs typeface="+mn-lt"/>
              </a:rPr>
              <a:t>In all hypotheses the Yellow Cab company appears dominant in comparison to the Pink Cab company.</a:t>
            </a:r>
          </a:p>
          <a:p>
            <a:pPr>
              <a:buFont typeface="Arial"/>
              <a:buChar char="•"/>
            </a:pPr>
            <a:r>
              <a:rPr lang="en-US" dirty="0">
                <a:solidFill>
                  <a:schemeClr val="bg1"/>
                </a:solidFill>
                <a:ea typeface="+mn-lt"/>
                <a:cs typeface="+mn-lt"/>
              </a:rPr>
              <a:t>Yellow Cab's total income is profoundly higher.</a:t>
            </a:r>
          </a:p>
          <a:p>
            <a:pPr>
              <a:buFont typeface="Arial"/>
              <a:buChar char="•"/>
            </a:pPr>
            <a:r>
              <a:rPr lang="en-US" dirty="0">
                <a:solidFill>
                  <a:schemeClr val="bg1"/>
                </a:solidFill>
                <a:ea typeface="+mn-lt"/>
                <a:cs typeface="+mn-lt"/>
              </a:rPr>
              <a:t>In all states/cities involved in the market, the Yellow Cab has the largest percentage of profit.</a:t>
            </a:r>
            <a:endParaRPr lang="en-US" dirty="0">
              <a:solidFill>
                <a:schemeClr val="bg1"/>
              </a:solidFill>
              <a:cs typeface="Calibri"/>
            </a:endParaRPr>
          </a:p>
          <a:p>
            <a:pPr>
              <a:buFont typeface="Arial"/>
              <a:buChar char="•"/>
            </a:pPr>
            <a:r>
              <a:rPr lang="en-US" dirty="0">
                <a:solidFill>
                  <a:schemeClr val="bg1"/>
                </a:solidFill>
                <a:cs typeface="Calibri"/>
              </a:rPr>
              <a:t>During the high season (September-January) the profit of Yellow Cab is higher.</a:t>
            </a:r>
          </a:p>
          <a:p>
            <a:pPr>
              <a:buFont typeface="Arial"/>
              <a:buChar char="•"/>
            </a:pPr>
            <a:endParaRPr lang="en-US" dirty="0">
              <a:solidFill>
                <a:schemeClr val="bg1"/>
              </a:solidFill>
              <a:cs typeface="Calibri"/>
            </a:endParaRPr>
          </a:p>
          <a:p>
            <a:pPr marL="0" indent="0">
              <a:buNone/>
            </a:pPr>
            <a:endParaRPr lang="en-US" dirty="0">
              <a:solidFill>
                <a:srgbClr val="000000"/>
              </a:solidFill>
              <a:cs typeface="Calibri"/>
            </a:endParaRPr>
          </a:p>
        </p:txBody>
      </p:sp>
    </p:spTree>
    <p:extLst>
      <p:ext uri="{BB962C8B-B14F-4D97-AF65-F5344CB8AC3E}">
        <p14:creationId xmlns:p14="http://schemas.microsoft.com/office/powerpoint/2010/main" val="326163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13DBE-538B-4F5E-91E4-85A62DE45697}"/>
              </a:ext>
            </a:extLst>
          </p:cNvPr>
          <p:cNvSpPr>
            <a:spLocks noGrp="1"/>
          </p:cNvSpPr>
          <p:nvPr>
            <p:ph type="title"/>
          </p:nvPr>
        </p:nvSpPr>
        <p:spPr/>
        <p:txBody>
          <a:bodyPr/>
          <a:lstStyle/>
          <a:p>
            <a:pPr algn="ctr"/>
            <a:r>
              <a:rPr lang="en-US" dirty="0">
                <a:solidFill>
                  <a:srgbClr val="FF6600"/>
                </a:solidFill>
                <a:ea typeface="+mj-lt"/>
                <a:cs typeface="+mj-lt"/>
              </a:rPr>
              <a:t>Results &amp; Conclusion</a:t>
            </a:r>
            <a:endParaRPr lang="en-US" dirty="0">
              <a:ea typeface="+mj-lt"/>
              <a:cs typeface="+mj-lt"/>
            </a:endParaRPr>
          </a:p>
        </p:txBody>
      </p:sp>
      <p:sp>
        <p:nvSpPr>
          <p:cNvPr id="3" name="Content Placeholder 2">
            <a:extLst>
              <a:ext uri="{FF2B5EF4-FFF2-40B4-BE49-F238E27FC236}">
                <a16:creationId xmlns:a16="http://schemas.microsoft.com/office/drawing/2014/main" id="{717E245B-02A7-4407-947E-E4EC8F127487}"/>
              </a:ext>
            </a:extLst>
          </p:cNvPr>
          <p:cNvSpPr>
            <a:spLocks noGrp="1"/>
          </p:cNvSpPr>
          <p:nvPr>
            <p:ph idx="1"/>
          </p:nvPr>
        </p:nvSpPr>
        <p:spPr>
          <a:xfrm>
            <a:off x="838200" y="1960819"/>
            <a:ext cx="10515600" cy="3994918"/>
          </a:xfrm>
        </p:spPr>
        <p:txBody>
          <a:bodyPr vert="horz" lIns="91440" tIns="45720" rIns="91440" bIns="45720" rtlCol="0" anchor="t">
            <a:normAutofit lnSpcReduction="10000"/>
          </a:bodyPr>
          <a:lstStyle/>
          <a:p>
            <a:pPr>
              <a:buFont typeface="Arial,Sans-Serif" panose="020B0604020202020204" pitchFamily="34" charset="0"/>
            </a:pPr>
            <a:r>
              <a:rPr lang="en-US" dirty="0">
                <a:solidFill>
                  <a:schemeClr val="bg1"/>
                </a:solidFill>
                <a:ea typeface="+mn-lt"/>
                <a:cs typeface="+mn-lt"/>
              </a:rPr>
              <a:t>In terms of customer's profile (age, income and gender) Yellow Cab clearly dominates the market.</a:t>
            </a:r>
          </a:p>
          <a:p>
            <a:pPr>
              <a:buFont typeface="Arial,Sans-Serif" panose="020B0604020202020204" pitchFamily="34" charset="0"/>
            </a:pPr>
            <a:r>
              <a:rPr lang="en-US" dirty="0">
                <a:solidFill>
                  <a:schemeClr val="bg1"/>
                </a:solidFill>
                <a:ea typeface="+mn-lt"/>
                <a:cs typeface="+mn-lt"/>
              </a:rPr>
              <a:t>Yellow Cab evidently covers more kilometers and simultaneously the average income of each ride is much higher than the one of Pink Cab.</a:t>
            </a:r>
            <a:endParaRPr lang="en-US">
              <a:solidFill>
                <a:schemeClr val="bg1"/>
              </a:solidFill>
            </a:endParaRPr>
          </a:p>
          <a:p>
            <a:pPr>
              <a:buFont typeface="Arial,Sans-Serif" panose="020B0604020202020204" pitchFamily="34" charset="0"/>
            </a:pPr>
            <a:endParaRPr lang="en-US" dirty="0">
              <a:solidFill>
                <a:schemeClr val="bg1"/>
              </a:solidFill>
              <a:ea typeface="+mn-lt"/>
              <a:cs typeface="+mn-lt"/>
            </a:endParaRPr>
          </a:p>
          <a:p>
            <a:pPr marL="0" indent="0">
              <a:buNone/>
            </a:pPr>
            <a:r>
              <a:rPr lang="en-US" dirty="0">
                <a:solidFill>
                  <a:schemeClr val="bg1"/>
                </a:solidFill>
                <a:ea typeface="+mn-lt"/>
                <a:cs typeface="+mn-lt"/>
              </a:rPr>
              <a:t>With full clarity we acknowledge the correctness of XYZ company to invest in the most profitable, dominating and with most future prospects for expansion and development.</a:t>
            </a:r>
          </a:p>
          <a:p>
            <a:pPr marL="0" indent="0">
              <a:buNone/>
            </a:pPr>
            <a:r>
              <a:rPr lang="en-US" dirty="0">
                <a:solidFill>
                  <a:schemeClr val="bg1"/>
                </a:solidFill>
                <a:ea typeface="+mn-lt"/>
                <a:cs typeface="+mn-lt"/>
              </a:rPr>
              <a:t>XYZ company ought to invest in Yellow Cab company.</a:t>
            </a:r>
          </a:p>
          <a:p>
            <a:pPr>
              <a:buFont typeface="Arial,Sans-Serif" panose="020B0604020202020204" pitchFamily="34" charset="0"/>
            </a:pPr>
            <a:endParaRPr lang="en-US" dirty="0">
              <a:solidFill>
                <a:schemeClr val="bg1"/>
              </a:solidFill>
              <a:ea typeface="+mn-lt"/>
              <a:cs typeface="+mn-lt"/>
            </a:endParaRPr>
          </a:p>
        </p:txBody>
      </p:sp>
    </p:spTree>
    <p:extLst>
      <p:ext uri="{BB962C8B-B14F-4D97-AF65-F5344CB8AC3E}">
        <p14:creationId xmlns:p14="http://schemas.microsoft.com/office/powerpoint/2010/main" val="2648222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Exploratory Data Analysis G2M Case Study  Name: Mantas Eleftherios Location: Greece, Patras Team Data and Analytics  Date:  11-March-2021</vt:lpstr>
      <vt:lpstr>Go-to-Market (G2M) Case study description</vt:lpstr>
      <vt:lpstr>Data overview</vt:lpstr>
      <vt:lpstr>Hypothesis 1: Total Income, Rides &amp; Average</vt:lpstr>
      <vt:lpstr>Hypothesis 2: Total Income per City/State</vt:lpstr>
      <vt:lpstr>Hypothesis 3: Income rate in time matter</vt:lpstr>
      <vt:lpstr>Hypothesis 4: Profile Analysis Pie plot for age class</vt:lpstr>
      <vt:lpstr>Hypothesis 4: Profile Analysis Company Income per age class</vt:lpstr>
      <vt:lpstr>Hypothesis 4: Profile Analysis Company Income per user income</vt:lpstr>
      <vt:lpstr>Hypothesis 4: Profile Analysis Company Income per gender</vt:lpstr>
      <vt:lpstr>Hypothesis 5: Kilometers Analysis</vt:lpstr>
      <vt:lpstr>Results &amp; Conclusion</vt:lpstr>
      <vt:lpstr>Results &amp; 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575</cp:revision>
  <dcterms:created xsi:type="dcterms:W3CDTF">2021-02-26T15:48:54Z</dcterms:created>
  <dcterms:modified xsi:type="dcterms:W3CDTF">2021-03-14T12:19:50Z</dcterms:modified>
</cp:coreProperties>
</file>